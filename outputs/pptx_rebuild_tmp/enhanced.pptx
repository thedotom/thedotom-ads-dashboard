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466b2935ad4a5b" /><Relationship Type="http://schemas.openxmlformats.org/officeDocument/2006/relationships/extended-properties" Target="/docProps/app.xml" Id="Raf79cc8d0b6b4ff6" /><Relationship Type="http://schemas.openxmlformats.org/officeDocument/2006/relationships/officeDocument" Target="/ppt/presentation.xml" Id="Rbbb2ad4df4a14c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b955176f304be4"/>
  </p:sldMasterIdLst>
  <p:notesMasterIdLst>
    <p:notesMasterId xmlns:r="http://schemas.openxmlformats.org/officeDocument/2006/relationships" r:id="Re294c0d31afd404c"/>
  </p:notesMasterIdLst>
  <p:sldIdLst>
    <p:sldId xmlns:r="http://schemas.openxmlformats.org/officeDocument/2006/relationships" id="256" r:id="R0868c00cd5fb45b2"/>
    <p:sldId xmlns:r="http://schemas.openxmlformats.org/officeDocument/2006/relationships" id="257" r:id="R31813bdbfe374e7e"/>
    <p:sldId xmlns:r="http://schemas.openxmlformats.org/officeDocument/2006/relationships" id="258" r:id="Rda5ca6dff59241fa"/>
    <p:sldId xmlns:r="http://schemas.openxmlformats.org/officeDocument/2006/relationships" id="259" r:id="R19784533e0aa4775"/>
    <p:sldId xmlns:r="http://schemas.openxmlformats.org/officeDocument/2006/relationships" id="260" r:id="Rd5a22e736e374633"/>
    <p:sldId xmlns:r="http://schemas.openxmlformats.org/officeDocument/2006/relationships" id="261" r:id="R2e1043729d1f48b1"/>
    <p:sldId xmlns:r="http://schemas.openxmlformats.org/officeDocument/2006/relationships" id="262" r:id="Rd49b240340b44ba6"/>
    <p:sldId xmlns:r="http://schemas.openxmlformats.org/officeDocument/2006/relationships" id="263" r:id="Rd8699e29215d4e13"/>
    <p:sldId xmlns:r="http://schemas.openxmlformats.org/officeDocument/2006/relationships" id="264" r:id="R64294993c9cb44db"/>
    <p:sldId xmlns:r="http://schemas.openxmlformats.org/officeDocument/2006/relationships" id="265" r:id="Rdb219c3a4bcb4b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4d984dd0654964" /><Relationship Type="http://schemas.openxmlformats.org/officeDocument/2006/relationships/slideMaster" Target="/ppt/slideMasters/slideMaster1.xml" Id="R0db955176f304be4" /><Relationship Type="http://schemas.openxmlformats.org/officeDocument/2006/relationships/notesMaster" Target="/ppt/notesMasters/notesMaster1.xml" Id="Re294c0d31afd404c" /><Relationship Type="http://schemas.openxmlformats.org/officeDocument/2006/relationships/presProps" Target="/ppt/presProps.xml" Id="R976d589d2b634735" /><Relationship Type="http://schemas.openxmlformats.org/officeDocument/2006/relationships/tableStyles" Target="/ppt/tableStyles.xml" Id="Re1ab9d7715c947fb" /><Relationship Type="http://schemas.openxmlformats.org/officeDocument/2006/relationships/slide" Target="/ppt/slides/slide1.xml" Id="R0868c00cd5fb45b2" /><Relationship Type="http://schemas.openxmlformats.org/officeDocument/2006/relationships/slide" Target="/ppt/slides/slide2.xml" Id="R31813bdbfe374e7e" /><Relationship Type="http://schemas.openxmlformats.org/officeDocument/2006/relationships/slide" Target="/ppt/slides/slide3.xml" Id="Rda5ca6dff59241fa" /><Relationship Type="http://schemas.openxmlformats.org/officeDocument/2006/relationships/slide" Target="/ppt/slides/slide4.xml" Id="R19784533e0aa4775" /><Relationship Type="http://schemas.openxmlformats.org/officeDocument/2006/relationships/slide" Target="/ppt/slides/slide5.xml" Id="Rd5a22e736e374633" /><Relationship Type="http://schemas.openxmlformats.org/officeDocument/2006/relationships/slide" Target="/ppt/slides/slide6.xml" Id="R2e1043729d1f48b1" /><Relationship Type="http://schemas.openxmlformats.org/officeDocument/2006/relationships/slide" Target="/ppt/slides/slide7.xml" Id="Rd49b240340b44ba6" /><Relationship Type="http://schemas.openxmlformats.org/officeDocument/2006/relationships/slide" Target="/ppt/slides/slide8.xml" Id="Rd8699e29215d4e13" /><Relationship Type="http://schemas.openxmlformats.org/officeDocument/2006/relationships/slide" Target="/ppt/slides/slide9.xml" Id="R64294993c9cb44db" /><Relationship Type="http://schemas.openxmlformats.org/officeDocument/2006/relationships/slide" Target="/ppt/slides/slide10.xml" Id="Rdb219c3a4bcb4b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09d65aeac54e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71e8eebd8a4799" /><Relationship Type="http://schemas.openxmlformats.org/officeDocument/2006/relationships/notesMaster" Target="/ppt/notesMasters/notesMaster1.xml" Id="R47c828652ae749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ba68195b2e4eaa" /><Relationship Type="http://schemas.openxmlformats.org/officeDocument/2006/relationships/notesMaster" Target="/ppt/notesMasters/notesMaster1.xml" Id="R9dc48c8eea5b42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bd1f2fd4f04f07" /><Relationship Type="http://schemas.openxmlformats.org/officeDocument/2006/relationships/notesMaster" Target="/ppt/notesMasters/notesMaster1.xml" Id="R578c7a0c4b5e42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9e6a2510bb40da" /><Relationship Type="http://schemas.openxmlformats.org/officeDocument/2006/relationships/notesMaster" Target="/ppt/notesMasters/notesMaster1.xml" Id="R405beed000ea4b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c1f1c2727c42c9" /><Relationship Type="http://schemas.openxmlformats.org/officeDocument/2006/relationships/notesMaster" Target="/ppt/notesMasters/notesMaster1.xml" Id="R1b3c6dcb922640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9748b9b2bb40ef" /><Relationship Type="http://schemas.openxmlformats.org/officeDocument/2006/relationships/notesMaster" Target="/ppt/notesMasters/notesMaster1.xml" Id="Rf9e9e41aba6a4a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2bdc2f78cf4e9b" /><Relationship Type="http://schemas.openxmlformats.org/officeDocument/2006/relationships/notesMaster" Target="/ppt/notesMasters/notesMaster1.xml" Id="R9455540423b04f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b33911b52244b2" /><Relationship Type="http://schemas.openxmlformats.org/officeDocument/2006/relationships/notesMaster" Target="/ppt/notesMasters/notesMaster1.xml" Id="R9ea22908a90c46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5d8e562eb6474c" /><Relationship Type="http://schemas.openxmlformats.org/officeDocument/2006/relationships/notesMaster" Target="/ppt/notesMasters/notesMaster1.xml" Id="Rff73f0d12cee4a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290b547fd44c0c" /><Relationship Type="http://schemas.openxmlformats.org/officeDocument/2006/relationships/notesMaster" Target="/ppt/notesMasters/notesMaster1.xml" Id="R9cb6162ba3ce4e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9b0d270ef40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7f98010c5743c1" /><Relationship Type="http://schemas.openxmlformats.org/officeDocument/2006/relationships/slideLayout" Target="/ppt/slideLayouts/slideLayout1.xml" Id="Rb32819f84fd944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2819f84fd944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fff23a5e34937" /><Relationship Type="http://schemas.openxmlformats.org/officeDocument/2006/relationships/notesSlide" Target="/ppt/notesSlides/notesSlide1.xml" Id="R80137e0a5c3a46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be304ca9a4890" /><Relationship Type="http://schemas.openxmlformats.org/officeDocument/2006/relationships/notesSlide" Target="/ppt/notesSlides/notesSlide2.xml" Id="Rcbc9a517cbe841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4178cbaf443f5" /><Relationship Type="http://schemas.openxmlformats.org/officeDocument/2006/relationships/chart" Target="/ppt/slides/charts/chart1.xml" Id="Ra8f375dcf0894895" /><Relationship Type="http://schemas.openxmlformats.org/officeDocument/2006/relationships/notesSlide" Target="/ppt/notesSlides/notesSlide3.xml" Id="R937983a2e6dc4b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2eb414a7147d8" /><Relationship Type="http://schemas.openxmlformats.org/officeDocument/2006/relationships/notesSlide" Target="/ppt/notesSlides/notesSlide4.xml" Id="Rc6573a79688d44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a7f1cbb1d4daa" /><Relationship Type="http://schemas.openxmlformats.org/officeDocument/2006/relationships/notesSlide" Target="/ppt/notesSlides/notesSlide5.xml" Id="R3a1d5b38b6d840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d9f60fb154ecd" /><Relationship Type="http://schemas.openxmlformats.org/officeDocument/2006/relationships/notesSlide" Target="/ppt/notesSlides/notesSlide6.xml" Id="R1704d6baab3c49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07127736d4765" /><Relationship Type="http://schemas.openxmlformats.org/officeDocument/2006/relationships/notesSlide" Target="/ppt/notesSlides/notesSlide7.xml" Id="R1f1aed21466641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a6e5b6ee9464b" /><Relationship Type="http://schemas.openxmlformats.org/officeDocument/2006/relationships/notesSlide" Target="/ppt/notesSlides/notesSlide8.xml" Id="Rc3c3bff9ac6341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c7b8734524b15" /><Relationship Type="http://schemas.openxmlformats.org/officeDocument/2006/relationships/notesSlide" Target="/ppt/notesSlides/notesSlide9.xml" Id="R7f778631ace540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797e1a59d4118" /><Relationship Type="http://schemas.openxmlformats.org/officeDocument/2006/relationships/notesSlide" Target="/ppt/notesSlides/notesSlide10.xml" Id="Raee44104986c412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2025 ROAS</c:v>
          </c:tx>
          <c:spPr>
            <a:solidFill xmlns:a="http://schemas.openxmlformats.org/drawingml/2006/main">
              <a:srgbClr val="94A3B8"/>
            </a:solidFill>
          </c:spPr>
          <c:marker>
            <c:symbol val="none"/>
          </c:marker>
          <c:cat>
            <c:strLit>
              <c:ptCount val="7"/>
              <c:pt idx="0">
                <c:v>01월</c:v>
              </c:pt>
              <c:pt idx="1">
                <c:v>02월</c:v>
              </c:pt>
              <c:pt idx="2">
                <c:v>03월</c:v>
              </c:pt>
              <c:pt idx="3">
                <c:v>04월</c:v>
              </c:pt>
              <c:pt idx="4">
                <c:v>05월</c:v>
              </c:pt>
              <c:pt idx="5">
                <c:v>06월</c:v>
              </c:pt>
              <c:pt idx="6">
                <c:v>07월</c:v>
              </c:pt>
            </c:strLit>
          </c:cat>
          <c:val>
            <c:numLit>
              <c:formatCode>0"%"</c:formatCode>
              <c:ptCount val="7"/>
              <c:pt idx="0">
                <c:v>846</c:v>
              </c:pt>
              <c:pt idx="1">
                <c:v>958</c:v>
              </c:pt>
              <c:pt idx="2">
                <c:v>1164</c:v>
              </c:pt>
              <c:pt idx="3">
                <c:v>1335</c:v>
              </c:pt>
              <c:pt idx="4">
                <c:v>1382</c:v>
              </c:pt>
              <c:pt idx="5">
                <c:v>1284</c:v>
              </c:pt>
              <c:pt idx="6">
                <c:v>1487</c:v>
              </c:pt>
            </c:numLit>
          </c:val>
        </c:ser>
        <c:ser>
          <c:idx val="1"/>
          <c:order val="1"/>
          <c:tx>
            <c:v>2026 ROAS</c:v>
          </c:tx>
          <c:spPr>
            <a:solidFill xmlns:a="http://schemas.openxmlformats.org/drawingml/2006/main">
              <a:srgbClr val="4865F4"/>
            </a:solidFill>
          </c:spPr>
          <c:marker>
            <c:symbol val="none"/>
          </c:marker>
          <c:cat>
            <c:strLit>
              <c:ptCount val="7"/>
              <c:pt idx="0">
                <c:v>01월</c:v>
              </c:pt>
              <c:pt idx="1">
                <c:v>02월</c:v>
              </c:pt>
              <c:pt idx="2">
                <c:v>03월</c:v>
              </c:pt>
              <c:pt idx="3">
                <c:v>04월</c:v>
              </c:pt>
              <c:pt idx="4">
                <c:v>05월</c:v>
              </c:pt>
              <c:pt idx="5">
                <c:v>06월</c:v>
              </c:pt>
              <c:pt idx="6">
                <c:v>07월</c:v>
              </c:pt>
            </c:strLit>
          </c:cat>
          <c:val>
            <c:numLit>
              <c:formatCode>0"%"</c:formatCode>
              <c:ptCount val="7"/>
              <c:pt idx="0">
                <c:v>1210</c:v>
              </c:pt>
              <c:pt idx="1">
                <c:v>1046</c:v>
              </c:pt>
              <c:pt idx="2">
                <c:v>3905</c:v>
              </c:pt>
              <c:pt idx="3">
                <c:v>5242</c:v>
              </c:pt>
              <c:pt idx="4">
                <c:v>4998</c:v>
              </c:pt>
              <c:pt idx="5">
                <c:v>4132</c:v>
              </c:pt>
              <c:pt idx="6">
                <c:v>3473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F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3093E-C734-424C-84AC-9D8C1E84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65F4"/>
                </a:solidFill>
              </a:defRPr>
            </a:pPr>
            <a:r>
              <a:rPr sz="1275" b="1">
                <a:solidFill>
                  <a:srgbClr val="4865F4"/>
                </a:solidFill>
              </a:rPr>
              <a:t>경영진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37860-8E84-4CBC-8378-1D32E399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2026년 1~7월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광고·리워드 슬롯 효율 보고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E57B6-0491-4BD9-8E17-01F0BAE7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전년 동기간 비교 · 네이버 광고 3계정 · 리워드 슬롯 3개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A5472-FCC9-412E-B42F-EC489A5F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43000"/>
            <a:ext cx="2857500" cy="3429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30C7F-A199-441A-8D14-B9AF97D5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8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FC0FF"/>
                </a:solidFill>
              </a:defRPr>
            </a:pPr>
            <a:r>
              <a:rPr sz="1350" b="1">
                <a:solidFill>
                  <a:srgbClr val="AFC0FF"/>
                </a:solidFill>
              </a:rPr>
              <a:t>핵심 결론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9D57F-9435-44EC-BD19-9BC758DC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광고비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+35.9%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AD463-B9F2-4996-A9F1-B8BCBD05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광고매출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+312.8%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2EF7A-F8A1-4D2E-8470-C829BDA1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ROAS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1,240% → 3,767%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44E9C-07B3-4D6B-8463-ABD474C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보고 기준일  2026-08-03</a:t>
            </a:r>
          </a:p>
        </p:txBody>
      </p:sp>
    </p:spTree>
    <p:extLst>
      <p:ext uri="{BB962C8B-B14F-4D97-AF65-F5344CB8AC3E}">
        <p14:creationId xmlns:p14="http://schemas.microsoft.com/office/powerpoint/2010/main" val="113021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F25FA-BF21-46FE-85D8-943684E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경영진 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019C6-E812-43D0-966C-A2196D72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성과는 크게 개선됐지만, 계정 집중과 슬롯 검증 공백을 함께 관리해야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010F2-C5D0-4CE9-A481-935AA8A2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2026 광고비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CD142-8E20-4EF1-9B1A-A5EC04E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65F4"/>
                </a:solidFill>
              </a:defRPr>
            </a:pPr>
            <a:r>
              <a:rPr sz="2400" b="1">
                <a:solidFill>
                  <a:srgbClr val="4865F4"/>
                </a:solidFill>
              </a:rPr>
              <a:t>₩185.8M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51DB2-C51E-417F-9467-F7E23CBF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전년 대비 +35.9%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A0953-3D86-4A5C-A999-39005EDC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2026 광고매출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D34F1-D44C-46B9-B932-E6534AE0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₩6,997.2M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CED04-12CC-4BCA-8260-7047511B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전년 대비 +312.8%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4EA89-0B84-49F6-B6CB-39CA8CFA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2026 ROAS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44300-93A4-47EF-830B-765919A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3,766.6%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30824-7BF4-49D8-A88E-2A51629C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2025년 1,239.7%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CD8EE-F08D-42C4-9B0F-50E9C50B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2026 전환수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51EA1-601C-4736-9D37-C0FAE058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51,438건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DA79E-05ED-4509-9CFE-D8D88D88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전년 대비 +271.9%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4C7A6-066B-4D1E-893D-7EBAA3BC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143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028D6-A9AD-43DA-AC68-4A65E8C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경영 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5A26E-2185-43CB-B786-155EA8C0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① 광고 확대 성과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② 3월 추적 변화 영향 분리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③ 슬롯은 종료 후 재판정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D3A2D-43F5-46D4-8144-6B186F8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4D6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55352-0FDE-485B-BCD3-26787BC4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핵심 리스크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D5A7F-D504-4476-80ED-889459B8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광고비의 97.1%가 한 계정에 집중됩니다. 7월 효율 둔화까지 겹쳐 단순 증액보다 검증 가능한 운영이 우선입니다.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0F6F6-544F-4CFF-A4E1-794D3C3B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광고·슬롯 효율 분석 | 2026-08-03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E48D6-F03F-439D-A384-BD98CCC1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1794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E675B-E537-40A6-A474-02B3E824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월별 성과 추이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4C176-FC71-448F-9B6A-DE6F990E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3월부터 급상승했지만, 4월 정점 이후 7월까지 3개월 연속 둔화했습니다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239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f375dcf089489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A4174-9E7C-4BFE-ABCE-E4824582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000375" cy="3429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8C8D6-CB20-48F0-BF4D-C165448B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월별 해석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16724-D245-4A8B-8ED5-B88D066D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71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1~2월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기존 효율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78D67-0046-4128-9D8C-45FBD403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865F4"/>
                </a:solidFill>
              </a:defRPr>
            </a:pPr>
            <a:r>
              <a:rPr sz="1500" b="1">
                <a:solidFill>
                  <a:srgbClr val="4865F4"/>
                </a:solidFill>
              </a:rPr>
              <a:t>3~4월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4865F4"/>
                </a:solidFill>
              </a:defRPr>
            </a:pPr>
            <a:r>
              <a:rPr sz="1500" b="1">
                <a:solidFill>
                  <a:srgbClr val="4865F4"/>
                </a:solidFill>
              </a:rPr>
              <a:t>추적·집계 전환점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CECD9-7078-4BD4-8933-9EF91D2D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9D74"/>
                </a:solidFill>
              </a:defRPr>
            </a:pPr>
            <a:r>
              <a:rPr sz="1500" b="1">
                <a:solidFill>
                  <a:srgbClr val="0F9D74"/>
                </a:solidFill>
              </a:rPr>
              <a:t>5~7월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F9D74"/>
                </a:solidFill>
              </a:defRPr>
            </a:pPr>
            <a:r>
              <a:rPr sz="1500" b="1">
                <a:solidFill>
                  <a:srgbClr val="0F9D74"/>
                </a:solidFill>
              </a:rPr>
              <a:t>고효율 유지, 둔화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33755-6322-476C-B940-D91BF58C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625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7월 ROAS 3,473%는 여전히 높지만 4월 대비 33.7% 낮습니다. 증액은 한계효율 확인과 함께 진행해야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FAD3E-3569-4702-A8C9-A8C6765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광고·슬롯 효율 분석 | 2026-08-03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5DB02-FA4B-412E-9E61-21CD0E3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5556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017E53-32C1-4EA6-A6E8-9D31D9D4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계정별 성과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A9494-D7D3-4BCD-B13E-0A742EA3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광고비의 97.1%가 thedotomshop에 집중되어 성과와 리스크가 동시에 집중됩니다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DF6F7-1C0D-492C-ADE8-C8DA9EDF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광고계정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A9A43-5557-496A-A01B-077D4C9F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광고비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A2FD0-22AE-46B3-9F8C-7C2F05BB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광고매출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B6CDE-BFDC-4C1F-832B-A872D2F2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ROAS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01CCD-4EC7-48E6-868E-C2740D37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전환수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47165-D8CA-4B1A-BA92-55B9D9EB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E73B2-CE1E-4C17-8863-11BEAD88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50FE9-61B0-43CD-9D8C-181E0B9A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thedotomshop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E17C1-D393-4384-A12C-3A7F1B8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₩180.5M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87996-3F46-48FA-87C1-D3EBADC0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₩6,940.6M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79533-9994-43A6-B2F0-F4C745D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3,846%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3B61B-A54E-4A32-BCDB-A6E93CE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51,241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B31AD-B6AC-4FA8-89AF-77603592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핵심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01532-615E-4D32-A07A-82E7AE1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B5898-7C53-45DE-9CA5-4CDADF28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검색광고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F2DB7-9665-43D3-92A3-69C86E9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₩5.3M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5CBB7-FA60-4D51-8AF6-E82993DE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₩56.6M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C1EF4-AFA9-4259-BC9A-DE217C2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1,066%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5270D-80B1-4324-B524-AEC386ED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197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69087-88EA-41FC-889E-6EFA4370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보조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F5211-C596-44CF-8707-3A428313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4D6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E482D-B82F-44E5-96DE-356C479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별도 광고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1BC03-0364-48AA-8B6C-9678362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₩0.0M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79D9C-506D-438A-ABA6-F57AF57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₩0.0M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A288A-5D75-4841-9A24-99D9B24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ABB3A4-D9F7-4F0A-8010-F107DBF0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B00A2C-4435-44A1-A019-80FC9A0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97706"/>
                </a:solidFill>
              </a:defRPr>
            </a:pPr>
            <a:r>
              <a:rPr sz="1350" b="0">
                <a:solidFill>
                  <a:srgbClr val="D97706"/>
                </a:solidFill>
              </a:rPr>
              <a:t>미집행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F08AC-7725-43C3-BF88-29AE28B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계정 운영 판단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E43AB-51AD-49CB-96E3-0224F925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0542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주력 계정은 유지하되 캠페인 목적·전환 태그·예산 상한을 분리합니다. 보조 계정은 확대보다 역할 재정의가 우선입니다.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E3F8E6-84A1-4040-BB94-AE0649C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광고·슬롯 효율 분석 | 2026-08-03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C7C4E-5D9E-43B5-9786-F83B0FD1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7701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C04C94-F2A3-4D11-A022-0998947E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현재 슬롯 운영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C038F-208D-4293-B582-7AB7AC1C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총 132만원을 3개 상품에 배분했으며, 종료 전이므로 효율 판정은 아직 보류합니다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CF55C-0214-47AC-8039-5D9EF45A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상품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6AC1D-610C-4669-BE07-3C2052CE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기간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E5EFD-DEF9-4C39-BDDE-82D2EB85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슬롯비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16818-383F-405F-8634-935A8E1C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누적 매출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7900C-1500-43BA-A714-FE3A008A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광고비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2CC7C-C32C-4620-B3A8-60AEA93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27547-E989-4AFC-BB05-17781F89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6F4E5-8BE9-40BB-93E5-11D7C004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수건단품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CA0A4-6A49-4144-8117-186C87B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07-31~08-09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6BAAB-B6CF-48BC-91CB-A1273C19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₩440K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94C81-8E72-4BFB-93BF-133F111C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₩0.72M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66127-468E-433B-B2BA-ADD398A1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₩215K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6E795-C3F2-4033-8D45-A2CB709B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865F4"/>
                </a:solidFill>
              </a:defRPr>
            </a:pPr>
            <a:r>
              <a:rPr sz="1350" b="0">
                <a:solidFill>
                  <a:srgbClr val="4865F4"/>
                </a:solidFill>
              </a:rPr>
              <a:t>관찰중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55183-65FB-401F-B6B4-E314C24E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7A215-6F6A-41ED-ABB2-C06F37F9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세트모음전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441BA-B272-4BA6-B4DC-50D0575A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07-31~08-09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71B3-138C-4068-B574-748DE05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₩660K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50645-9851-4353-9ECB-8B83C04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₩0.91M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64161-3640-49A5-8CAB-33CBA4DF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₩66K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5F7A8-4A2B-406A-8E3D-E08B4BB8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865F4"/>
                </a:solidFill>
              </a:defRPr>
            </a:pPr>
            <a:r>
              <a:rPr sz="1350" b="0">
                <a:solidFill>
                  <a:srgbClr val="4865F4"/>
                </a:solidFill>
              </a:rPr>
              <a:t>관찰중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7E7F3-8096-461C-8684-5EF8F134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F8C7B-F35D-4007-9CDF-9A767557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조구만고리수건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F2702-548F-490C-B9B4-64FADD39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07-31~08-09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E1E0D7-6E96-4DB2-B5F0-A46C24AC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₩220K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E2C1D-BA92-4805-BDB0-D8322AE1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₩0.23M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CAE043-ADCB-46E7-BF2B-6F57F722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9EB29-289A-4896-B8B4-22142070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865F4"/>
                </a:solidFill>
              </a:defRPr>
            </a:pPr>
            <a:r>
              <a:rPr sz="1350" b="0">
                <a:solidFill>
                  <a:srgbClr val="4865F4"/>
                </a:solidFill>
              </a:rPr>
              <a:t>관찰중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B1E6F6-F383-4B8A-B52C-22D7CD5A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572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453F3F-9639-47DD-8E15-4B1BBE6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FC0FF"/>
                </a:solidFill>
              </a:defRPr>
            </a:pPr>
            <a:r>
              <a:rPr sz="1275" b="1">
                <a:solidFill>
                  <a:srgbClr val="AFC0FF"/>
                </a:solidFill>
              </a:rPr>
              <a:t>현재 부분집계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3972D-9C91-4795-848C-5B5E28CF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29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슬롯비 ₩1.32M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A720C9-579B-42A1-AD5B-4292EA1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29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매출 ₩1.87M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70E9A-6FC8-46DF-8F10-2B8E0A17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광고비 ₩0.41M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B4BF7E-8F13-4B9C-8FB9-E9A7C02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광고·슬롯 효율 분석 | 2026-08-03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70CC6F-67CC-4D89-9079-BD6D440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2641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F25FA-BF21-46FE-85D8-943684E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성과 개선의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019C6-E812-43D0-966C-A2196D72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광고비보다 전환·광고매출이 훨씬 빠르게 늘었지만, 3월의 구조적 단절을 분리해야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010F2-C5D0-4CE9-A481-935AA8A2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노출수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CD142-8E20-4EF1-9B1A-A5EC04E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65F4"/>
                </a:solidFill>
              </a:defRPr>
            </a:pPr>
            <a:r>
              <a:rPr sz="2400" b="1">
                <a:solidFill>
                  <a:srgbClr val="4865F4"/>
                </a:solidFill>
              </a:rPr>
              <a:t>-34.8%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51DB2-C51E-417F-9467-F7E23CBF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5.98M → 3.90M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A0953-3D86-4A5C-A999-39005EDC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클릭수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D34F1-D44C-46B9-B932-E6534AE0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+60.8%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CED04-12CC-4BCA-8260-7047511B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73.7K → 118.4K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4EA89-0B84-49F6-B6CB-39CA8CFA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전환수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44300-93A4-47EF-830B-765919A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+271.9%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30824-7BF4-49D8-A88E-2A51629C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13.8K → 51.4K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CD8EE-F08D-42C4-9B0F-50E9C50B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광고매출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51EA1-601C-4736-9D37-C0FAE058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+312.8%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DA79E-05ED-4509-9CFE-D8D88D88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₩1.69B → ₩7.00B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4C7A6-066B-4D1E-893D-7EBAA3BC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143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028D6-A9AD-43DA-AC68-4A65E8C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확인된 변화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5A26E-2185-43CB-B786-155EA8C0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CPC는 15.5% 하락했고 CVR은 18.8%에서 43.4%로 상승했습니다. 개선의 중심은 유입량보다 전환 성과입니다.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D3A2D-43F5-46D4-8144-6B186F8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4D6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55352-0FDE-485B-BCD3-26787BC4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검증할 변화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D5A7F-D504-4476-80ED-889459B8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3월 ROAS가 1,046%에서 3,905%로 급변했습니다. 실제 판매 개선과 추적·집계 변경 효과를 분리해야 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0F6F6-544F-4CFF-A4E1-794D3C3B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광고·슬롯 효율 분석 | 2026-08-03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E48D6-F03F-439D-A384-BD98CCC1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1794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017E53-32C1-4EA6-A6E8-9D31D9D4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상품군 광고 벤치마크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A9494-D7D3-4BCD-B13E-0A742EA3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2026년 ROAS는 전년 대비 상승했지만, 7월에는 상품별 방향이 갈렸습니다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DF6F7-1C0D-492C-ADE8-C8DA9EDF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상품군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A9A43-5557-496A-A01B-077D4C9F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2025 ROAS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A2FD0-22AE-46B3-9F8C-7C2F05BB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2026 ROAS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B6CDE-BFDC-4C1F-832B-A872D2F2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증가폭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01CCD-4EC7-48E6-868E-C2740D37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2026.07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47165-D8CA-4B1A-BA92-55B9D9EB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E73B2-CE1E-4C17-8863-11BEAD88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50FE9-61B0-43CD-9D8C-181E0B9A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수건 상품군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E17C1-D393-4384-A12C-3A7F1B8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1,412%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87996-3F46-48FA-87C1-D3EBADC0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5,740%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79533-9994-43A6-B2F0-F4C745D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+4,328%p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3B61B-A54E-4A32-BCDB-A6E93CE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7,450%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B31AD-B6AC-4FA8-89AF-77603592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강세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01532-615E-4D32-A07A-82E7AE1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B5898-7C53-45DE-9CA5-4CDADF28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조구만 광고군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F2DB7-9665-43D3-92A3-69C86E9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1,777%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5CBB7-FA60-4D51-8AF6-E82993DE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5,097%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C1EF4-AFA9-4259-BC9A-DE217C2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+3,320%p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5270D-80B1-4324-B524-AEC386ED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4,586%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69087-88EA-41FC-889E-6EFA4370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둔화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F5211-C596-44CF-8707-3A428313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4D6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E482D-B82F-44E5-96DE-356C479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전체 계정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1BC03-0364-48AA-8B6C-9678362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1,240%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79D9C-506D-438A-ABA6-F57AF57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3,767%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A288A-5D75-4841-9A24-99D9B24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+2,527%p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ABB3A4-D9F7-4F0A-8010-F107DBF0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3,473%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B00A2C-4435-44A1-A019-80FC9A0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97706"/>
                </a:solidFill>
              </a:defRPr>
            </a:pPr>
            <a:r>
              <a:rPr sz="1350" b="0">
                <a:solidFill>
                  <a:srgbClr val="D97706"/>
                </a:solidFill>
              </a:rPr>
              <a:t>둔화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F08AC-7725-43C3-BF88-29AE28B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예산 배분 시사점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E43AB-51AD-49CB-96E3-0224F925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0542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수건 상품군은 7월에도 개선됐지만 조구만은 6월 대비 23.6% 하락했습니다. 증액분은 상품군별 한계효율로 분리합니다.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E3F8E6-84A1-4040-BB94-AE0649C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광고·슬롯 효율 분석 | 2026-08-03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C7C4E-5D9E-43B5-9786-F83B0FD1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7701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49B7E-F25F-4818-B97F-BC392102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슬롯 판정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ED84C-5109-47A7-9EB5-B9E5BD47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슬롯은 매출 규모가 아니라 ‘추가로 만든 성과’와 순위 유지비용으로 판단합니다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DAE8E-7E61-4F38-8E69-3368D00D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865F4"/>
                </a:solidFill>
              </a:defRPr>
            </a:pPr>
            <a:r>
              <a:rPr sz="1950" b="1">
                <a:solidFill>
                  <a:srgbClr val="4865F4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47C3D-3B08-4451-843B-EBD211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증분매출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AD40E-9C35-4493-8328-2D2E9D22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운영 전 동일 기간 대비 매출 증가분을 계산하고 광고·프로모션 중복 영향을 별도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212FC-2EF9-4CB3-86DA-CFE73C24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100EF-7C7C-44B0-93EC-D000D4E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865F4"/>
                </a:solidFill>
              </a:defRPr>
            </a:pPr>
            <a:r>
              <a:rPr sz="1950" b="1">
                <a:solidFill>
                  <a:srgbClr val="4865F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3B793-C0F3-47CE-98FF-2E0F6E0D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0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비용 회수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C549C-A79C-442A-B755-7F920CF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증분매출÷슬롯비 3배 이상 유지, 1~3배 재검토, 1배 미만 중단 후보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B46DF-A291-4C4D-A09F-E64044AB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400E0-FD0F-454B-974E-130877B3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865F4"/>
                </a:solidFill>
              </a:defRPr>
            </a:pPr>
            <a:r>
              <a:rPr sz="1950" b="1">
                <a:solidFill>
                  <a:srgbClr val="4865F4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BD33C-EB6E-4082-9F4F-C2A14737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순위·지속성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B938E-0B5F-4EA9-931C-3437ACF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검색 5위 이내 유지와 종료 후 7일간 매출·순위 잔존효과를 함께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EAA31-E21C-431E-ADDE-B209712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77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9525">
            <a:solidFill>
              <a:srgbClr val="E8E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DD93B-B117-44BF-8FB1-AABDC0C0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245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65F4"/>
                </a:solidFill>
              </a:defRPr>
            </a:pPr>
            <a:r>
              <a:rPr sz="1500" b="1">
                <a:solidFill>
                  <a:srgbClr val="4865F4"/>
                </a:solidFill>
              </a:rPr>
              <a:t>제안: 8월 10일 종료 후 7일 관찰 → 8월 18일 상품별 유지·축소·중단 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DB552-566D-45D5-A70D-09F1268A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광고·슬롯 효율 분석 | 2026-08-03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AB757-AB0A-4C1A-BD51-A36C8627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18288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F25FA-BF21-46FE-85D8-943684E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해석 범위와 한계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019C6-E812-43D0-966C-A2196D72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현재 수치만으로 광고와 슬롯의 순수 인과효과를 확정할 수는 없습니다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010F2-C5D0-4CE9-A481-935AA8A2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확정 가능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CD142-8E20-4EF1-9B1A-A5EC04E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65F4"/>
                </a:solidFill>
              </a:defRPr>
            </a:pPr>
            <a:r>
              <a:rPr sz="2400" b="1">
                <a:solidFill>
                  <a:srgbClr val="4865F4"/>
                </a:solidFill>
              </a:rPr>
              <a:t>광고 집행·전환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51DB2-C51E-417F-9467-F7E23CBF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API 집계 기준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A0953-3D86-4A5C-A999-39005EDC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주의 필요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D34F1-D44C-46B9-B932-E6534AE0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전환매출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CED04-12CC-4BCA-8260-7047511B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추적 변경 영향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4EA89-0B84-49F6-B6CB-39CA8CFA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판정 보류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44300-93A4-47EF-830B-765919A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슬롯 증분효과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30824-7BF4-49D8-A88E-2A51629C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대조기간 필요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CD8EE-F08D-42C4-9B0F-50E9C50B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추가 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51EA1-601C-4736-9D37-C0FAE058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수익성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DA79E-05ED-4509-9CFE-D8D88D88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매출총이익률 필요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4C7A6-066B-4D1E-893D-7EBAA3BC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143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028D6-A9AD-43DA-AC68-4A65E8C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이번 보고서의 원칙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5A26E-2185-43CB-B786-155EA8C0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성과 규모와 추세는 보고하되 인과효과는 대조기간 확보 후 확정합니다. 광고 ROAS와 슬롯 효율은 별도 관리합니다.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D3A2D-43F5-46D4-8144-6B186F8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4D6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55352-0FDE-485B-BCD3-26787BC4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필수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D5A7F-D504-4476-80ED-889459B8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① 3월 집계 변경 이력 ② 슬롯 전·중·후 일매출·순위 ③ 상품별 매출총이익률 ④ 예산 변경 로그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0F6F6-544F-4CFF-A4E1-794D3C3B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광고·슬롯 효율 분석 | 2026-08-03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E48D6-F03F-439D-A384-BD98CCC1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1794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49B7E-F25F-4818-B97F-BC392102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향후 30일 실행안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ED84C-5109-47A7-9EB5-B9E5BD47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측정 기준을 고정하고 상품별·계정별 한계효율이 보이게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DAE8E-7E61-4F38-8E69-3368D00D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865F4"/>
                </a:solidFill>
              </a:defRPr>
            </a:pPr>
            <a:r>
              <a:rPr sz="1950" b="1">
                <a:solidFill>
                  <a:srgbClr val="4865F4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47C3D-3B08-4451-843B-EBD211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8월 5일까지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AD40E-9C35-4493-8328-2D2E9D22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3월 전후 전환 태그·귀속기간·매출 집계 변경 이력을 확정하고 비교 기준 고정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212FC-2EF9-4CB3-86DA-CFE73C24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100EF-7C7C-44B0-93EC-D000D4E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865F4"/>
                </a:solidFill>
              </a:defRPr>
            </a:pPr>
            <a:r>
              <a:rPr sz="1950" b="1">
                <a:solidFill>
                  <a:srgbClr val="4865F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3B793-C0F3-47CE-98FF-2E0F6E0D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0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8월 18일까지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C549C-A79C-442A-B755-7F920CF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슬롯 종료 후 7일 데이터를 반영해 증분매출·회수배수·순위 잔존효과로 판정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B46DF-A291-4C4D-A09F-E64044AB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400E0-FD0F-454B-974E-130877B3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865F4"/>
                </a:solidFill>
              </a:defRPr>
            </a:pPr>
            <a:r>
              <a:rPr sz="1950" b="1">
                <a:solidFill>
                  <a:srgbClr val="4865F4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BD33C-EB6E-4082-9F4F-C2A14737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8월 말까지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B938E-0B5F-4EA9-931C-3437ACF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주력 계정을 목적별로 분리하고 예산 +10% 실험군과 유지 대조군의 한계 ROAS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EAA31-E21C-431E-ADDE-B209712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77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9525">
            <a:solidFill>
              <a:srgbClr val="E8E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DD93B-B117-44BF-8FB1-AABDC0C0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245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65F4"/>
                </a:solidFill>
              </a:defRPr>
            </a:pPr>
            <a:r>
              <a:rPr sz="1500" b="1">
                <a:solidFill>
                  <a:srgbClr val="4865F4"/>
                </a:solidFill>
              </a:rPr>
              <a:t>승인 요청: 측정 기준 고정 → 슬롯 재판정 → 검증된 구간만 단계적 증액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DB552-566D-45D5-A70D-09F1268A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광고·슬롯 효율 분석 | 2026-08-03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AB757-AB0A-4C1A-BD51-A36C8627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1828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2026-08-03T06:23:57.0350000Z</dcterms:created>
  <dcterms:modified xsi:type="dcterms:W3CDTF">2026-08-03T06:23:57.0350000Z</dcterms:modified>
</coreProperties>
</file>