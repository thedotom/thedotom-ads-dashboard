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3ea6d847014d49" /><Relationship Type="http://schemas.openxmlformats.org/officeDocument/2006/relationships/extended-properties" Target="/docProps/app.xml" Id="Ra7b12364c08743ea" /><Relationship Type="http://schemas.openxmlformats.org/officeDocument/2006/relationships/officeDocument" Target="/ppt/presentation.xml" Id="R5bbedea27d78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1a187fb6364714"/>
  </p:sldMasterIdLst>
  <p:notesMasterIdLst>
    <p:notesMasterId xmlns:r="http://schemas.openxmlformats.org/officeDocument/2006/relationships" r:id="Ra9c3b619090347e9"/>
  </p:notesMasterIdLst>
  <p:sldIdLst>
    <p:sldId xmlns:r="http://schemas.openxmlformats.org/officeDocument/2006/relationships" id="256" r:id="Reb1a7d2ce2f64a1b"/>
    <p:sldId xmlns:r="http://schemas.openxmlformats.org/officeDocument/2006/relationships" id="257" r:id="R277e6e5854fd4647"/>
    <p:sldId xmlns:r="http://schemas.openxmlformats.org/officeDocument/2006/relationships" id="258" r:id="Ree4f73bade234489"/>
    <p:sldId xmlns:r="http://schemas.openxmlformats.org/officeDocument/2006/relationships" id="259" r:id="R6548c8df4a0b4262"/>
    <p:sldId xmlns:r="http://schemas.openxmlformats.org/officeDocument/2006/relationships" id="260" r:id="R9bd0bab7c5d5434b"/>
    <p:sldId xmlns:r="http://schemas.openxmlformats.org/officeDocument/2006/relationships" id="261" r:id="R2253a0561bc24b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a5c1f039f14f59" /><Relationship Type="http://schemas.openxmlformats.org/officeDocument/2006/relationships/slideMaster" Target="/ppt/slideMasters/slideMaster1.xml" Id="R9d1a187fb6364714" /><Relationship Type="http://schemas.openxmlformats.org/officeDocument/2006/relationships/notesMaster" Target="/ppt/notesMasters/notesMaster1.xml" Id="Ra9c3b619090347e9" /><Relationship Type="http://schemas.openxmlformats.org/officeDocument/2006/relationships/presProps" Target="/ppt/presProps.xml" Id="Re19585b4cccf41b4" /><Relationship Type="http://schemas.openxmlformats.org/officeDocument/2006/relationships/tableStyles" Target="/ppt/tableStyles.xml" Id="R6927e22e962044cd" /><Relationship Type="http://schemas.openxmlformats.org/officeDocument/2006/relationships/slide" Target="/ppt/slides/slide1.xml" Id="Reb1a7d2ce2f64a1b" /><Relationship Type="http://schemas.openxmlformats.org/officeDocument/2006/relationships/slide" Target="/ppt/slides/slide2.xml" Id="R277e6e5854fd4647" /><Relationship Type="http://schemas.openxmlformats.org/officeDocument/2006/relationships/slide" Target="/ppt/slides/slide3.xml" Id="Ree4f73bade234489" /><Relationship Type="http://schemas.openxmlformats.org/officeDocument/2006/relationships/slide" Target="/ppt/slides/slide4.xml" Id="R6548c8df4a0b4262" /><Relationship Type="http://schemas.openxmlformats.org/officeDocument/2006/relationships/slide" Target="/ppt/slides/slide5.xml" Id="R9bd0bab7c5d5434b" /><Relationship Type="http://schemas.openxmlformats.org/officeDocument/2006/relationships/slide" Target="/ppt/slides/slide6.xml" Id="R2253a0561bc24b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a6d9dd68b49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a43ad91dcc4a20" /><Relationship Type="http://schemas.openxmlformats.org/officeDocument/2006/relationships/notesMaster" Target="/ppt/notesMasters/notesMaster1.xml" Id="R22e589751a044b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a74b3ae5f4f9b" /><Relationship Type="http://schemas.openxmlformats.org/officeDocument/2006/relationships/notesMaster" Target="/ppt/notesMasters/notesMaster1.xml" Id="R78fa5321aa3f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cf94fe78c34390" /><Relationship Type="http://schemas.openxmlformats.org/officeDocument/2006/relationships/notesMaster" Target="/ppt/notesMasters/notesMaster1.xml" Id="R13b229003c5c46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444f1e30f472a" /><Relationship Type="http://schemas.openxmlformats.org/officeDocument/2006/relationships/notesMaster" Target="/ppt/notesMasters/notesMaster1.xml" Id="R4084457e1e8e40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3a9592d4bb4b9a" /><Relationship Type="http://schemas.openxmlformats.org/officeDocument/2006/relationships/notesMaster" Target="/ppt/notesMasters/notesMaster1.xml" Id="R1553d4c62091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ee7189a8f8497d" /><Relationship Type="http://schemas.openxmlformats.org/officeDocument/2006/relationships/notesMaster" Target="/ppt/notesMasters/notesMaster1.xml" Id="Rc3c0a6aab9db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Naver Search Ads API monthly raw exports, 2025-01-01~2025-07-31 and 2026-01-01~2026-07-31</a:t>
            </a:r>
          </a:p>
          <a:p xmlns:a="http://schemas.openxmlformats.org/drawingml/2006/main">
            <a:r>
              <a:t>- Thedotom slot efficiency Google Sheet export, updated 2026-08-03</a:t>
            </a:r>
          </a:p>
          <a:p xmlns:a="http://schemas.openxmlformats.org/drawingml/2006/main">
            <a:r>
              <a:t>- Dashboard file: monthly-dashboard-2026-08.json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900541aa84c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d4da10f0f64928" /><Relationship Type="http://schemas.openxmlformats.org/officeDocument/2006/relationships/slideLayout" Target="/ppt/slideLayouts/slideLayout1.xml" Id="Rc832e11f076548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32e11f076548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e159359a74019" /><Relationship Type="http://schemas.openxmlformats.org/officeDocument/2006/relationships/notesSlide" Target="/ppt/notesSlides/notesSlide1.xml" Id="R9b4ecd58bd22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28f12d1ae4b6a" /><Relationship Type="http://schemas.openxmlformats.org/officeDocument/2006/relationships/notesSlide" Target="/ppt/notesSlides/notesSlide2.xml" Id="R7e20c9ca787b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1ff758ad47a4" /><Relationship Type="http://schemas.openxmlformats.org/officeDocument/2006/relationships/chart" Target="/ppt/slides/charts/chart1.xml" Id="R87c4fd590b1b4ab6" /><Relationship Type="http://schemas.openxmlformats.org/officeDocument/2006/relationships/notesSlide" Target="/ppt/notesSlides/notesSlide3.xml" Id="R296d51ccd063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b319be2c347de" /><Relationship Type="http://schemas.openxmlformats.org/officeDocument/2006/relationships/notesSlide" Target="/ppt/notesSlides/notesSlide4.xml" Id="Rfe63a228dffc46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4669442d4728" /><Relationship Type="http://schemas.openxmlformats.org/officeDocument/2006/relationships/notesSlide" Target="/ppt/notesSlides/notesSlide5.xml" Id="Rd1a104c42e85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6f0bfdac44efd" /><Relationship Type="http://schemas.openxmlformats.org/officeDocument/2006/relationships/notesSlide" Target="/ppt/notesSlides/notesSlide6.xml" Id="R465f8ff4c2484cc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2025 ROAS</c:v>
          </c:tx>
          <c:spPr>
            <a:solidFill xmlns:a="http://schemas.openxmlformats.org/drawingml/2006/main">
              <a:srgbClr val="94A3B8"/>
            </a:solidFill>
          </c:spPr>
          <c:marker>
            <c:symbol val="none"/>
          </c:marker>
          <c:cat>
            <c:strLit>
              <c:ptCount val="7"/>
              <c:pt idx="0">
                <c:v>01월</c:v>
              </c:pt>
              <c:pt idx="1">
                <c:v>02월</c:v>
              </c:pt>
              <c:pt idx="2">
                <c:v>03월</c:v>
              </c:pt>
              <c:pt idx="3">
                <c:v>04월</c:v>
              </c:pt>
              <c:pt idx="4">
                <c:v>05월</c:v>
              </c:pt>
              <c:pt idx="5">
                <c:v>06월</c:v>
              </c:pt>
              <c:pt idx="6">
                <c:v>07월</c:v>
              </c:pt>
            </c:strLit>
          </c:cat>
          <c:val>
            <c:numLit>
              <c:formatCode>0"%"</c:formatCode>
              <c:ptCount val="7"/>
              <c:pt idx="0">
                <c:v>846</c:v>
              </c:pt>
              <c:pt idx="1">
                <c:v>958</c:v>
              </c:pt>
              <c:pt idx="2">
                <c:v>1164</c:v>
              </c:pt>
              <c:pt idx="3">
                <c:v>1335</c:v>
              </c:pt>
              <c:pt idx="4">
                <c:v>1382</c:v>
              </c:pt>
              <c:pt idx="5">
                <c:v>1284</c:v>
              </c:pt>
              <c:pt idx="6">
                <c:v>1487</c:v>
              </c:pt>
            </c:numLit>
          </c:val>
        </c:ser>
        <c:ser>
          <c:idx val="1"/>
          <c:order val="1"/>
          <c:tx>
            <c:v>2026 ROAS</c:v>
          </c:tx>
          <c:spPr>
            <a:solidFill xmlns:a="http://schemas.openxmlformats.org/drawingml/2006/main">
              <a:srgbClr val="4865F4"/>
            </a:solidFill>
          </c:spPr>
          <c:marker>
            <c:symbol val="none"/>
          </c:marker>
          <c:cat>
            <c:strLit>
              <c:ptCount val="7"/>
              <c:pt idx="0">
                <c:v>01월</c:v>
              </c:pt>
              <c:pt idx="1">
                <c:v>02월</c:v>
              </c:pt>
              <c:pt idx="2">
                <c:v>03월</c:v>
              </c:pt>
              <c:pt idx="3">
                <c:v>04월</c:v>
              </c:pt>
              <c:pt idx="4">
                <c:v>05월</c:v>
              </c:pt>
              <c:pt idx="5">
                <c:v>06월</c:v>
              </c:pt>
              <c:pt idx="6">
                <c:v>07월</c:v>
              </c:pt>
            </c:strLit>
          </c:cat>
          <c:val>
            <c:numLit>
              <c:formatCode>0"%"</c:formatCode>
              <c:ptCount val="7"/>
              <c:pt idx="0">
                <c:v>1210</c:v>
              </c:pt>
              <c:pt idx="1">
                <c:v>1046</c:v>
              </c:pt>
              <c:pt idx="2">
                <c:v>3905</c:v>
              </c:pt>
              <c:pt idx="3">
                <c:v>5242</c:v>
              </c:pt>
              <c:pt idx="4">
                <c:v>4998</c:v>
              </c:pt>
              <c:pt idx="5">
                <c:v>4132</c:v>
              </c:pt>
              <c:pt idx="6">
                <c:v>3473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3093E-C734-424C-84AC-9D8C1E8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865F4"/>
                </a:solidFill>
              </a:defRPr>
            </a:pPr>
            <a:r>
              <a:rPr sz="1275" b="1">
                <a:solidFill>
                  <a:srgbClr val="4865F4"/>
                </a:solidFill>
              </a:rPr>
              <a:t>경영진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37860-8E84-4CBC-8378-1D32E39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2026년 1~7월</a:t>
            </a:r>
          </a:p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광고·슬롯 효율 보고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E57B6-0491-4BD9-8E17-01F0BAE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2025년 동기간 대비 · 네이버 광고 3계정 · 리워드 슬롯 3개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A5472-FCC9-412E-B42F-EC489A5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43000"/>
            <a:ext cx="2857500" cy="3429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30C7F-A199-441A-8D14-B9AF97D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81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C0FF"/>
                </a:solidFill>
              </a:defRPr>
            </a:pPr>
            <a:r>
              <a:rPr sz="1350" b="1">
                <a:solidFill>
                  <a:srgbClr val="AFC0FF"/>
                </a:solidFill>
              </a:rPr>
              <a:t>핵심 결론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9D57F-9435-44EC-BD19-9BC758DC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광고비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+35.9%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AD463-B9F2-4996-A9F1-B8BCBD05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광고매출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+312.8%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2EF7A-F8A1-4D2E-8470-C829BDA1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ROAS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1,240% → 3,767%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44E9C-07B3-4D6B-8463-ABD474C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보고 기준일 2026-08-03</a:t>
            </a:r>
          </a:p>
        </p:txBody>
      </p:sp>
    </p:spTree>
    <p:extLst>
      <p:ext uri="{BB962C8B-B14F-4D97-AF65-F5344CB8AC3E}">
        <p14:creationId xmlns:p14="http://schemas.microsoft.com/office/powerpoint/2010/main" val="113021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F25FA-BF21-46FE-85D8-943684E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대표이사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019C6-E812-43D0-966C-A2196D7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광고 효율은 크게 개선됐지만, 전환 집계 기준 점검이 필요합니다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010F2-C5D0-4CE9-A481-935AA8A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광고비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CD142-8E20-4EF1-9B1A-A5EC04E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65F4"/>
                </a:solidFill>
              </a:defRPr>
            </a:pPr>
            <a:r>
              <a:rPr sz="2400" b="1">
                <a:solidFill>
                  <a:srgbClr val="4865F4"/>
                </a:solidFill>
              </a:rPr>
              <a:t>₩185.8M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51DB2-C51E-417F-9467-F7E23CBF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전년 대비 +35.9%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A0953-3D86-4A5C-A999-39005ED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광고매출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D34F1-D44C-46B9-B932-E6534AE0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₩6,997.2M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CED04-12CC-4BCA-8260-7047511B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전년 대비 +312.8%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4EA89-0B84-49F6-B6CB-39CA8CFA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ROAS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44300-93A4-47EF-830B-765919A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3,766.6%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30824-7BF4-49D8-A88E-2A51629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2025년 1,239.7%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CD8EE-F08D-42C4-9B0F-50E9C50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2026 전환수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51EA1-601C-4736-9D37-C0FAE058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9D74"/>
                </a:solidFill>
              </a:defRPr>
            </a:pPr>
            <a:r>
              <a:rPr sz="2400" b="1">
                <a:solidFill>
                  <a:srgbClr val="0F9D74"/>
                </a:solidFill>
              </a:rPr>
              <a:t>51,438건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DA79E-05ED-4509-9CFE-D8D88D8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전년 대비 +271.9%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4C7A6-066B-4D1E-893D-7EBAA3BC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5143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028D6-A9AD-43DA-AC68-4A65E8C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경영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5A26E-2185-43CB-B786-155EA8C0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집행 확대보다 측정 신뢰도 확인이 우선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3월 이후 전환매출 급증 원인 점검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• 슬롯비는 광고비와 분리해 증분효과 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D3A2D-43F5-46D4-8144-6B186F8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4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55352-0FDE-485B-BCD3-26787BC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주의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D5A7F-D504-4476-80ED-889459B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광고 성과 개선과 전환 추적·집계 변경 가능성이 동시에 존재합니다. 매출 원장과 광고 전환매출의 월별 대조가 필요합니다.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0F6F6-544F-4CFF-A4E1-794D3C3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더도톰 광고·슬롯 효율 분석 | 2026-08-03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E48D6-F03F-439D-A384-BD98CCC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1794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E675B-E537-40A6-A474-02B3E82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대표이사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4C176-FC71-448F-9B6A-DE6F990E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2026년 ROAS는 3월부터 구조적으로 상승했습니다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c4fd590b1b4ab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A4174-9E7C-4BFE-ABCE-E482458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000375" cy="34290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8C8D6-CB20-48F0-BF4D-C165448B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월별 해석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6724-D245-4A8B-8ED5-B88D066D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71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1~2월</a:t>
            </a:r>
          </a:p>
          <a:p xmlns:a="http://schemas.openxmlformats.org/drawingml/2006/main">
            <a:pPr algn="l"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기존 효율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78D67-0046-4128-9D8C-45FBD40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865F4"/>
                </a:solidFill>
              </a:defRPr>
            </a:pPr>
            <a:r>
              <a:rPr sz="1500" b="1">
                <a:solidFill>
                  <a:srgbClr val="4865F4"/>
                </a:solidFill>
              </a:rPr>
              <a:t>3월</a:t>
            </a:r>
          </a:p>
          <a:p xmlns:a="http://schemas.openxmlformats.org/drawingml/2006/main">
            <a:pPr algn="l">
              <a:defRPr sz="1500" b="1">
                <a:solidFill>
                  <a:srgbClr val="4865F4"/>
                </a:solidFill>
              </a:defRPr>
            </a:pPr>
            <a:r>
              <a:rPr sz="1500" b="1">
                <a:solidFill>
                  <a:srgbClr val="4865F4"/>
                </a:solidFill>
              </a:rPr>
              <a:t>ROAS 급증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CECD9-7078-4BD4-8933-9EF91D2D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D74"/>
                </a:solidFill>
              </a:defRPr>
            </a:pPr>
            <a:r>
              <a:rPr sz="1500" b="1">
                <a:solidFill>
                  <a:srgbClr val="0F9D74"/>
                </a:solidFill>
              </a:rPr>
              <a:t>4~7월</a:t>
            </a:r>
          </a:p>
          <a:p xmlns:a="http://schemas.openxmlformats.org/drawingml/2006/main">
            <a:pPr algn="l">
              <a:defRPr sz="1500" b="1">
                <a:solidFill>
                  <a:srgbClr val="0F9D74"/>
                </a:solidFill>
              </a:defRPr>
            </a:pPr>
            <a:r>
              <a:rPr sz="1500" b="1">
                <a:solidFill>
                  <a:srgbClr val="0F9D74"/>
                </a:solidFill>
              </a:rPr>
              <a:t>고효율 지속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33755-6322-476C-B940-D91BF58C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625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성과 개선 여부와 별개로 전환 추적 기준을 확인해야 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FAD3E-3569-4702-A8C9-A8C6765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더도톰 광고·슬롯 효율 분석 | 2026-08-03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5DB02-FA4B-412E-9E61-21CD0E3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556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17E53-32C1-4EA6-A6E8-9D31D9D4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대표이사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A9494-D7D3-4BCD-B13E-0A742EA3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광고비의 97%는 thedotomshop 계정에 집중돼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DF6F7-1C0D-492C-ADE8-C8DA9ED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광고계정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9A43-5557-496A-A01B-077D4C9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A2FD0-22AE-46B3-9F8C-7C2F05B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광고매출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B6CDE-BFDC-4C1F-832B-A872D2F2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ROAS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01CCD-4EC7-48E6-868E-C2740D37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전환수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47165-D8CA-4B1A-BA92-55B9D9EB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E73B2-CE1E-4C17-8863-11BEAD8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50FE9-61B0-43CD-9D8C-181E0B9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thedotomshop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E17C1-D393-4384-A12C-3A7F1B8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₩180.5M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87996-3F46-48FA-87C1-D3EBADC0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₩6940.6M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79533-9994-43A6-B2F0-F4C745D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3846%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3B61B-A54E-4A32-BCDB-A6E93CE9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51,241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B31AD-B6AC-4FA8-89AF-77603592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정상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01532-615E-4D32-A07A-82E7AE1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B5898-7C53-45DE-9CA5-4CDADF28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검색광고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F2DB7-9665-43D3-92A3-69C86E9B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₩5.3M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5CBB7-FA60-4D51-8AF6-E82993D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₩56.6M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C1EF4-AFA9-4259-BC9A-DE217C21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1066%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5270D-80B1-4324-B524-AEC386ED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197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69087-88EA-41FC-889E-6EFA4370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정상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F5211-C596-44CF-8707-3A428313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4D6A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9E482D-B82F-44E5-96DE-356C479C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더도톰 광고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1BC03-0364-48AA-8B6C-9678362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₩0.0M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79D9C-506D-438A-ABA6-F57AF57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₩0.0M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A288A-5D75-4841-9A24-99D9B24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ABB3A4-D9F7-4F0A-8010-F107DBF0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B00A2C-4435-44A1-A019-80FC9A0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7706"/>
                </a:solidFill>
              </a:defRPr>
            </a:pPr>
            <a:r>
              <a:rPr sz="1350" b="0">
                <a:solidFill>
                  <a:srgbClr val="D97706"/>
                </a:solidFill>
              </a:rPr>
              <a:t>0원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F08AC-7725-43C3-BF88-29AE28B5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계정 운영 판단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E43AB-51AD-49CB-96E3-0224F92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054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‘더도톰 광고’ 계정은 7개월간 집행 실적이 없습니다. 유지 목적이 없다면 계정·캠페인 구조를 정리해 운영 복잡도를 낮출 수 있습니다.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E3F8E6-84A1-4040-BB94-AE0649C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더도톰 광고·슬롯 효율 분석 | 2026-08-03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C7C4E-5D9E-43B5-9786-F83B0FD1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701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C04C94-F2A3-4D11-A022-0998947E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대표이사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C038F-208D-4293-B582-7AB7AC1C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현재 슬롯은 전체 132만원을 3개 상품에 배분해 운영 중입니다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CF55C-0214-47AC-8039-5D9EF45A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상품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6AC1D-610C-4669-BE07-3C2052CE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기간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E5EFD-DEF9-4C39-BDDE-82D2EB85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슬롯비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16818-383F-405F-8634-935A8E1C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누적 매출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7900C-1500-43BA-A714-FE3A008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광고비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2CC7C-C32C-4620-B3A8-60AEA93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24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27547-E989-4AFC-BB05-17781F89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6F4E5-8BE9-40BB-93E5-11D7C004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수건단품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CA0A4-6A49-4144-8117-186C87B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07-31~08-09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6BAAB-B6CF-48BC-91CB-A1273C1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₩440K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94C81-8E72-4BFB-93BF-133F111C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₩7.72M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66127-468E-433B-B2BA-ADD398A1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₩315K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6E795-C3F2-4033-8D45-A2CB709B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F4"/>
                </a:solidFill>
              </a:defRPr>
            </a:pPr>
            <a:r>
              <a:rPr sz="1350" b="0">
                <a:solidFill>
                  <a:srgbClr val="4865F4"/>
                </a:solidFill>
              </a:rPr>
              <a:t>관찰중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55183-65FB-401F-B6B4-E314C24E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7A215-6F6A-41ED-ABB2-C06F37F9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세트모음전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441BA-B272-4BA6-B4DC-50D0575A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07-31~08-09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71B3-138C-4068-B574-748DE05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₩660K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50645-9851-4353-9ECB-8B83C04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₩3.91M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64161-3640-49A5-8CAB-33CBA4DF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₩96K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5F7A8-4A2B-406A-8E3D-E08B4BB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F4"/>
                </a:solidFill>
              </a:defRPr>
            </a:pPr>
            <a:r>
              <a:rPr sz="1350" b="0">
                <a:solidFill>
                  <a:srgbClr val="4865F4"/>
                </a:solidFill>
              </a:rPr>
              <a:t>관찰중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7E7F3-8096-461C-8684-5EF8F134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1049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F8C7B-F35D-4007-9CDF-9A767557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조구만고리수건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F2702-548F-490C-B9B4-64FADD39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07-31~08-09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1E0D7-6E96-4DB2-B5F0-A46C24AC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₩220K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AE2C1D-BA92-4805-BDB0-D8322AE1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₩0.23M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CAE043-ADCB-46E7-BF2B-6F57F72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₩0K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9EB29-289A-4896-B8B4-22142070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F4"/>
                </a:solidFill>
              </a:defRPr>
            </a:pPr>
            <a:r>
              <a:rPr sz="1350" b="0">
                <a:solidFill>
                  <a:srgbClr val="4865F4"/>
                </a:solidFill>
              </a:rPr>
              <a:t>관찰중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1E6F6-F383-4B8A-B52C-22D7CD5A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572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53F3F-9639-47DD-8E15-4B1BBE6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FC0FF"/>
                </a:solidFill>
              </a:defRPr>
            </a:pPr>
            <a:r>
              <a:rPr sz="1275" b="1">
                <a:solidFill>
                  <a:srgbClr val="AFC0FF"/>
                </a:solidFill>
              </a:rPr>
              <a:t>현재 부분집계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3972D-9C91-4795-848C-5B5E28CF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슬롯비 ₩1.32M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720C9-579B-42A1-AD5B-4292EA1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매출 ₩11.87M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A70E9A-6FC8-46DF-8F10-2B8E0A17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광고비 ₩0.41M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B4BF7E-8F13-4B9C-8FB9-E9A7C02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더도톰 광고·슬롯 효율 분석 | 2026-08-03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0CC6F-67CC-4D89-9079-BD6D440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2641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49B7E-F25F-4818-B97F-BC392102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865F4"/>
                </a:solidFill>
              </a:defRPr>
            </a:pPr>
            <a:r>
              <a:rPr sz="1050" b="1">
                <a:solidFill>
                  <a:srgbClr val="4865F4"/>
                </a:solidFill>
              </a:rPr>
              <a:t>대표이사 보고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ED84C-5109-47A7-9EB5-B9E5BD47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다음 의사결정은 ‘확대’보다 ‘검증 후 선택’입니다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DAE8E-7E61-4F38-8E69-3368D00D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47C3D-3B08-4451-843B-EBD2116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전환 데이터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D40E-9C35-4493-8328-2D2E9D2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2026년 3월 이후 광고 전환매출을 실제 매출 원장과 월별 대조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212FC-2EF9-4CB3-86DA-CFE73C24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100EF-7C7C-44B0-93EC-D000D4E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3B793-C0F3-47CE-98FF-2E0F6E0D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0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슬롯 종료 후 증분 평가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549C-A79C-442A-B755-7F920CF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8월 9일 종료 후 10일 전후 동일기간 매출·순위·광고비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B46DF-A291-4C4D-A09F-E64044A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400E0-FD0F-454B-974E-130877B3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865F4"/>
                </a:solidFill>
              </a:defRPr>
            </a:pPr>
            <a:r>
              <a:rPr sz="1950" b="1">
                <a:solidFill>
                  <a:srgbClr val="4865F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BD33C-EB6E-4082-9F4F-C2A1473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계정 구조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B938E-0B5F-4EA9-931C-3437ACF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0원 계정 유지 목적 확인 후 비활성 캠페인과 권한 체계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EAA31-E21C-431E-ADDE-B209712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E8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DD93B-B117-44BF-8FB1-AABDC0C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245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865F4"/>
                </a:solidFill>
              </a:defRPr>
            </a:pPr>
            <a:r>
              <a:rPr sz="1500" b="1">
                <a:solidFill>
                  <a:srgbClr val="4865F4"/>
                </a:solidFill>
              </a:rPr>
              <a:t>제안: 8월 10일 슬롯 종료 리포트에서 재집행 여부를 최종 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DB552-566D-45D5-A70D-09F1268A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더도톰 광고·슬롯 효율 분석 | 2026-08-03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AB757-AB0A-4C1A-BD51-A36C8627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1828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2026-08-03T05:51:46.7260000Z</dcterms:created>
  <dcterms:modified xsi:type="dcterms:W3CDTF">2026-08-03T05:51:46.7260000Z</dcterms:modified>
</coreProperties>
</file>